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8481112-cc62-5ed2-08f4-0e411a1a9a0f}">
          <p14:sldIdLst>
            <p14:sldId id="256"/>
            <p14:sldId id="257"/>
          </p14:sldIdLst>
        </p14:section>
        <p14:section name="Requirements" id="{c71ebb0d-1cc8-5027-2ac8-4a914c88ab91}">
          <p14:sldIdLst>
            <p14:sldId id="258"/>
            <p14:sldId id="259"/>
          </p14:sldIdLst>
        </p14:section>
        <p14:section name="What we will build" id="{13f73694-eee0-00fd-8222-25ffbc92ee8c}">
          <p14:sldIdLst>
            <p14:sldId id="260"/>
          </p14:sldIdLst>
        </p14:section>
        <p14:section name="Real project example" id="{60f80f77-1acc-6850-a195-286e01643d6d}">
          <p14:sldIdLst>
            <p14:sldId id="261"/>
            <p14:sldId id="262"/>
            <p14:sldId id="263"/>
            <p14:sldId id="264"/>
            <p14:sldId id="265"/>
          </p14:sldIdLst>
        </p14:section>
        <p14:section name="Timeline" id="{772d42da-8c86-6867-60d4-73051482bedb}">
          <p14:sldIdLst>
            <p14:sldId id="266"/>
          </p14:sldIdLst>
        </p14:section>
        <p14:section name="Next steps" id="{76b6534a-c39f-2613-ce74-59d97c5a282d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agree the scope and plan for moving Studio Niva's operations from five Google Sheets onto OmniFlow.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taken from the sheets shared in October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Ready = available as is. Configure = available, needs Studio Niva's settings. New = will be built as an OmniFlow feature and switched on for Studio Niva.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addition becomes a standard OmniFlow feature switched on for Studio Niva, so it keeps improving with every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statuses are F-86's real statuses from the progress sheet. Dates shown are illustrative until Studio Niva confirms planned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flows are examples built from real F-86 tasks in the delegation sheet (MBR changes, double-height changes, woodwork). Owners and target times are suggestions for Studio Niva to 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Milestone Tracker gives the site picture, FMS runs the process inside a stage, Delegation handles day-to-day tasks, and the dashboard and scorecard read from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Proposed timeline from a 5 October 2026 start. It assumes plan sign-off this week and allows a buffer for Diwali week in early November.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31720"/>
            <a:ext cx="86868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7315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237744" cy="237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8680" y="6364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OmniFlow  ×  Studio Niva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6364224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6422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mniFlow 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868680" cy="868680"/>
          </a:xfrm>
          <a:prstGeom prst="ellipse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83080" y="102412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4A3B8"/>
                </a:solidFill>
              </a:rPr>
              <a:t>×</a:t>
            </a:r>
            <a:endParaRPr lang="en-US" sz="3000" dirty="0"/>
          </a:p>
        </p:txBody>
      </p:sp>
      <p:pic>
        <p:nvPicPr>
          <p:cNvPr id="4" name="Studio Niva log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914400"/>
            <a:ext cx="868680" cy="868680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3317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Studio Niva on OmniFlow</a:t>
            </a:r>
            <a:endParaRPr lang="en-US" sz="4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7490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Project plan: requirements, what OmniFlow covers, what we will build, and the timeline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October 2026  ·  Prepared by OmniQ Consulting for Studio Niva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9052560" y="-1463040"/>
            <a:ext cx="5669280" cy="5669280"/>
          </a:xfrm>
          <a:prstGeom prst="ellipse">
            <a:avLst/>
          </a:prstGeom>
          <a:solidFill>
            <a:srgbClr val="13202E"/>
          </a:solidFill>
          <a:ln/>
        </p:spPr>
      </p:sp>
      <p:sp>
        <p:nvSpPr>
          <p:cNvPr id="9" name="Shape 5"/>
          <p:cNvSpPr/>
          <p:nvPr/>
        </p:nvSpPr>
        <p:spPr>
          <a:xfrm>
            <a:off x="9692640" y="-822960"/>
            <a:ext cx="4389120" cy="4389120"/>
          </a:xfrm>
          <a:prstGeom prst="ellipse">
            <a:avLst/>
          </a:prstGeom>
          <a:solidFill>
            <a:srgbClr val="0F1A2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Today, Studio Niva runs on five separate Google Sheets</a:t>
            </a:r>
            <a:endParaRPr lang="en-US" sz="3000" dirty="0"/>
          </a:p>
        </p:txBody>
      </p:sp>
      <p:sp>
        <p:nvSpPr>
          <p:cNvPr id="4" name="sheet card 1"/>
          <p:cNvSpPr/>
          <p:nvPr/>
        </p:nvSpPr>
        <p:spPr>
          <a:xfrm>
            <a:off x="548640" y="1371600"/>
            <a:ext cx="2057400" cy="2514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77240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Project Progress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2468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47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3154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sites tracked across 21 construction stages</a:t>
            </a:r>
            <a:endParaRPr lang="en-US" sz="1200" dirty="0"/>
          </a:p>
        </p:txBody>
      </p:sp>
      <p:sp>
        <p:nvSpPr>
          <p:cNvPr id="9" name="sheet card 2"/>
          <p:cNvSpPr/>
          <p:nvPr/>
        </p:nvSpPr>
        <p:spPr>
          <a:xfrm>
            <a:off x="2788920" y="1371600"/>
            <a:ext cx="2057400" cy="2514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60020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017520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Project Master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3017520" y="2468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47</a:t>
            </a:r>
            <a:endParaRPr lang="en-US" sz="4000" dirty="0"/>
          </a:p>
        </p:txBody>
      </p:sp>
      <p:sp>
        <p:nvSpPr>
          <p:cNvPr id="13" name="Text 8"/>
          <p:cNvSpPr txBox="1"/>
          <p:nvPr/>
        </p:nvSpPr>
        <p:spPr>
          <a:xfrm>
            <a:off x="3017520" y="3154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projects registered with client and team</a:t>
            </a:r>
            <a:endParaRPr lang="en-US" sz="1200" dirty="0"/>
          </a:p>
        </p:txBody>
      </p:sp>
      <p:sp>
        <p:nvSpPr>
          <p:cNvPr id="14" name="sheet card 3"/>
          <p:cNvSpPr/>
          <p:nvPr/>
        </p:nvSpPr>
        <p:spPr>
          <a:xfrm>
            <a:off x="5029200" y="1371600"/>
            <a:ext cx="2057400" cy="2514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600200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257800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Delegation Sheet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5257800" y="2468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1,854</a:t>
            </a:r>
            <a:endParaRPr lang="en-US" sz="4000" dirty="0"/>
          </a:p>
        </p:txBody>
      </p:sp>
      <p:sp>
        <p:nvSpPr>
          <p:cNvPr id="18" name="Text 12"/>
          <p:cNvSpPr txBox="1"/>
          <p:nvPr/>
        </p:nvSpPr>
        <p:spPr>
          <a:xfrm>
            <a:off x="5257800" y="3154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tasks delegated since Nov 2025</a:t>
            </a:r>
            <a:endParaRPr lang="en-US" sz="1200" dirty="0"/>
          </a:p>
        </p:txBody>
      </p:sp>
      <p:sp>
        <p:nvSpPr>
          <p:cNvPr id="19" name="sheet card 4"/>
          <p:cNvSpPr/>
          <p:nvPr/>
        </p:nvSpPr>
        <p:spPr>
          <a:xfrm>
            <a:off x="7269480" y="1371600"/>
            <a:ext cx="2057400" cy="2514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60020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498080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Employee Forms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7498080" y="2468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494</a:t>
            </a:r>
            <a:endParaRPr lang="en-US" sz="4000" dirty="0"/>
          </a:p>
        </p:txBody>
      </p:sp>
      <p:sp>
        <p:nvSpPr>
          <p:cNvPr id="23" name="Text 16"/>
          <p:cNvSpPr txBox="1"/>
          <p:nvPr/>
        </p:nvSpPr>
        <p:spPr>
          <a:xfrm>
            <a:off x="7498080" y="3154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leave, conveyance and other requests</a:t>
            </a:r>
            <a:endParaRPr lang="en-US" sz="1200" dirty="0"/>
          </a:p>
        </p:txBody>
      </p:sp>
      <p:sp>
        <p:nvSpPr>
          <p:cNvPr id="24" name="sheet card 5"/>
          <p:cNvSpPr/>
          <p:nvPr/>
        </p:nvSpPr>
        <p:spPr>
          <a:xfrm>
            <a:off x="9509760" y="1371600"/>
            <a:ext cx="2057400" cy="2514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1600200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738360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Client Master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9738360" y="2468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18</a:t>
            </a:r>
            <a:endParaRPr lang="en-US" sz="4000" dirty="0"/>
          </a:p>
        </p:txBody>
      </p:sp>
      <p:sp>
        <p:nvSpPr>
          <p:cNvPr id="28" name="Text 20"/>
          <p:cNvSpPr txBox="1"/>
          <p:nvPr/>
        </p:nvSpPr>
        <p:spPr>
          <a:xfrm>
            <a:off x="9738360" y="3154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client contacts with birthdays and anniversaries</a:t>
            </a:r>
            <a:endParaRPr lang="en-US" sz="1200" dirty="0"/>
          </a:p>
        </p:txBody>
      </p:sp>
      <p:sp>
        <p:nvSpPr>
          <p:cNvPr id="29" name="pain points"/>
          <p:cNvSpPr/>
          <p:nvPr/>
        </p:nvSpPr>
        <p:spPr>
          <a:xfrm>
            <a:off x="548640" y="4206240"/>
            <a:ext cx="11064240" cy="1874520"/>
          </a:xfrm>
          <a:prstGeom prst="roundRect">
            <a:avLst>
              <a:gd name="adj" fmla="val 5854"/>
            </a:avLst>
          </a:prstGeom>
          <a:solidFill>
            <a:srgbClr val="F5EEE8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868680" y="44074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What gets lost between the sheets</a:t>
            </a:r>
            <a:endParaRPr lang="en-US" sz="1600" dirty="0"/>
          </a:p>
        </p:txBody>
      </p:sp>
      <p:sp>
        <p:nvSpPr>
          <p:cNvPr id="31" name="Text 23"/>
          <p:cNvSpPr txBox="1"/>
          <p:nvPr/>
        </p:nvSpPr>
        <p:spPr>
          <a:xfrm>
            <a:off x="868680" y="48006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same project has a different ID or name in different sheets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Site stages show a status but no dates, so delays are invisible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Tasks are not linked to a project, and completed work is rarely checked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Conveyance claims and client feedback are captured but almost never closed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6422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Studio Niva needs from the new system</a:t>
            </a:r>
            <a:endParaRPr lang="en-US" sz="3000" dirty="0"/>
          </a:p>
        </p:txBody>
      </p:sp>
      <p:sp>
        <p:nvSpPr>
          <p:cNvPr id="3" name="requirement 1"/>
          <p:cNvSpPr/>
          <p:nvPr/>
        </p:nvSpPr>
        <p:spPr>
          <a:xfrm>
            <a:off x="548640" y="1371600"/>
            <a:ext cx="262890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7538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31720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One project register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9748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Every project with one ID, client, team, scope, documents and MOMs</a:t>
            </a:r>
            <a:endParaRPr lang="en-US" sz="1200" dirty="0"/>
          </a:p>
        </p:txBody>
      </p:sp>
      <p:sp>
        <p:nvSpPr>
          <p:cNvPr id="8" name="requirement 2"/>
          <p:cNvSpPr/>
          <p:nvPr/>
        </p:nvSpPr>
        <p:spPr>
          <a:xfrm>
            <a:off x="3360420" y="1371600"/>
            <a:ext cx="262890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89020" y="160020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639" y="17538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89020" y="2331720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Live site progress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589020" y="269748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21 stages per site running in parallel, with planned vs actual dates</a:t>
            </a:r>
            <a:endParaRPr lang="en-US" sz="1200" dirty="0"/>
          </a:p>
        </p:txBody>
      </p:sp>
      <p:sp>
        <p:nvSpPr>
          <p:cNvPr id="13" name="requirement 3"/>
          <p:cNvSpPr/>
          <p:nvPr/>
        </p:nvSpPr>
        <p:spPr>
          <a:xfrm>
            <a:off x="6172200" y="1371600"/>
            <a:ext cx="262890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60020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419" y="175381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Delegation and scorecard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269748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Tasks linked to projects, reminders, red / yellow / green weekly scorecard</a:t>
            </a:r>
            <a:endParaRPr lang="en-US" sz="1200" dirty="0"/>
          </a:p>
        </p:txBody>
      </p:sp>
      <p:sp>
        <p:nvSpPr>
          <p:cNvPr id="18" name="requirement 4"/>
          <p:cNvSpPr/>
          <p:nvPr/>
        </p:nvSpPr>
        <p:spPr>
          <a:xfrm>
            <a:off x="8983980" y="1371600"/>
            <a:ext cx="262890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212580" y="160020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6199" y="175381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12580" y="2331720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Work that is checked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9212580" y="269748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Mentor or reviewer signs off completed tasks and drawings</a:t>
            </a:r>
            <a:endParaRPr lang="en-US" sz="1200" dirty="0"/>
          </a:p>
        </p:txBody>
      </p:sp>
      <p:sp>
        <p:nvSpPr>
          <p:cNvPr id="23" name="requirement 5"/>
          <p:cNvSpPr/>
          <p:nvPr/>
        </p:nvSpPr>
        <p:spPr>
          <a:xfrm>
            <a:off x="548640" y="3703320"/>
            <a:ext cx="262890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77240" y="39319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9" y="4085539"/>
            <a:ext cx="332842" cy="33284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77240" y="4663440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Leave and HR requests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777240" y="502920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Apply, approve, substitute buddy, linked to attendance</a:t>
            </a:r>
            <a:endParaRPr lang="en-US" sz="1200" dirty="0"/>
          </a:p>
        </p:txBody>
      </p:sp>
      <p:sp>
        <p:nvSpPr>
          <p:cNvPr id="28" name="requirement 6"/>
          <p:cNvSpPr/>
          <p:nvPr/>
        </p:nvSpPr>
        <p:spPr>
          <a:xfrm>
            <a:off x="3360420" y="3703320"/>
            <a:ext cx="262890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589020" y="39319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2639" y="4085539"/>
            <a:ext cx="332842" cy="33284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589020" y="4663440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Conveyance claims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3589020" y="502920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Submit with bill photo, approve, and track what is reimbursed</a:t>
            </a:r>
            <a:endParaRPr lang="en-US" sz="1200" dirty="0"/>
          </a:p>
        </p:txBody>
      </p:sp>
      <p:sp>
        <p:nvSpPr>
          <p:cNvPr id="33" name="requirement 7"/>
          <p:cNvSpPr/>
          <p:nvPr/>
        </p:nvSpPr>
        <p:spPr>
          <a:xfrm>
            <a:off x="6172200" y="3703320"/>
            <a:ext cx="262890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400800" y="39319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4419" y="4085539"/>
            <a:ext cx="332842" cy="33284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400800" y="4663440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Client care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6400800" y="502920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Birthday and anniversary reminders, feedback at handover</a:t>
            </a:r>
            <a:endParaRPr lang="en-US" sz="1200" dirty="0"/>
          </a:p>
        </p:txBody>
      </p:sp>
      <p:sp>
        <p:nvSpPr>
          <p:cNvPr id="38" name="requirement 8"/>
          <p:cNvSpPr/>
          <p:nvPr/>
        </p:nvSpPr>
        <p:spPr>
          <a:xfrm>
            <a:off x="8983980" y="3703320"/>
            <a:ext cx="262890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9212580" y="39319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6199" y="4085539"/>
            <a:ext cx="332842" cy="33284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212580" y="4663440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One view, on the phone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9212580" y="502920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Owner dashboard, mobile app and WhatsApp alerts for everyone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6422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Seven of twelve needs are already in OmniFlow today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651760"/>
                <a:gridCol w="1280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Studio Niva needs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lives in OmniFlow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delegation, reminders and WhatsApp alerts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Delegation and My Tasks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Checking and signing off completed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and sign-off on tasks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Step-by-step processes (change requests, approvals)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FMS process flows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requests to the office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 requests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 and notifications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OmniFlow mobile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 applications and approvals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 and Attendance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and family contacts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and contacts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project register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980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progress with parallel stages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 Tracker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980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Revision-based weekly R / Y / G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Scorecard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980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Conveyance claims with approval and payout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 approval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980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Birthday, anniversary reminders and feedback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Care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980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E8"/>
                    </a:solidFill>
                  </a:tcPr>
                </a:tc>
              </a:tr>
            </a:tbl>
          </a:graphicData>
        </a:graphic>
      </p:graphicFrame>
      <p:sp>
        <p:nvSpPr>
          <p:cNvPr id="5" name="stat Ready"/>
          <p:cNvSpPr/>
          <p:nvPr/>
        </p:nvSpPr>
        <p:spPr>
          <a:xfrm>
            <a:off x="8778240" y="128016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900684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5803D"/>
                </a:solidFill>
              </a:rPr>
              <a:t>5</a:t>
            </a:r>
            <a:endParaRPr lang="en-US" sz="4800" dirty="0"/>
          </a:p>
        </p:txBody>
      </p:sp>
      <p:sp>
        <p:nvSpPr>
          <p:cNvPr id="7" name="Text 3"/>
          <p:cNvSpPr txBox="1"/>
          <p:nvPr/>
        </p:nvSpPr>
        <p:spPr>
          <a:xfrm>
            <a:off x="996696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</a:rPr>
              <a:t>Ready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9966960" y="1920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work from day one</a:t>
            </a:r>
            <a:endParaRPr lang="en-US" sz="1200" dirty="0"/>
          </a:p>
        </p:txBody>
      </p:sp>
      <p:sp>
        <p:nvSpPr>
          <p:cNvPr id="9" name="stat Configure"/>
          <p:cNvSpPr/>
          <p:nvPr/>
        </p:nvSpPr>
        <p:spPr>
          <a:xfrm>
            <a:off x="8778240" y="283464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006840" y="2971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D4ED8"/>
                </a:solidFill>
              </a:rPr>
              <a:t>2</a:t>
            </a:r>
            <a:endParaRPr lang="en-US" sz="4800" dirty="0"/>
          </a:p>
        </p:txBody>
      </p:sp>
      <p:sp>
        <p:nvSpPr>
          <p:cNvPr id="11" name="Text 7"/>
          <p:cNvSpPr txBox="1"/>
          <p:nvPr/>
        </p:nvSpPr>
        <p:spPr>
          <a:xfrm>
            <a:off x="9966960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</a:rPr>
              <a:t>Configure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9966960" y="3474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set up to Studio Niva's rules</a:t>
            </a:r>
            <a:endParaRPr lang="en-US" sz="1200" dirty="0"/>
          </a:p>
        </p:txBody>
      </p:sp>
      <p:sp>
        <p:nvSpPr>
          <p:cNvPr id="13" name="stat New"/>
          <p:cNvSpPr/>
          <p:nvPr/>
        </p:nvSpPr>
        <p:spPr>
          <a:xfrm>
            <a:off x="8778240" y="438912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006840" y="4526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9805F"/>
                </a:solidFill>
              </a:rPr>
              <a:t>5</a:t>
            </a:r>
            <a:endParaRPr lang="en-US" sz="4800" dirty="0"/>
          </a:p>
        </p:txBody>
      </p:sp>
      <p:sp>
        <p:nvSpPr>
          <p:cNvPr id="15" name="Text 11"/>
          <p:cNvSpPr txBox="1"/>
          <p:nvPr/>
        </p:nvSpPr>
        <p:spPr>
          <a:xfrm>
            <a:off x="9966960" y="4663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805F"/>
                </a:solidFill>
              </a:rPr>
              <a:t>New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9966960" y="5029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built as OmniFlow features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6422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Five additions close every gap, built into OmniFlow</a:t>
            </a:r>
            <a:endParaRPr lang="en-US" sz="3000" dirty="0"/>
          </a:p>
        </p:txBody>
      </p:sp>
      <p:sp>
        <p:nvSpPr>
          <p:cNvPr id="4" name="build Projects"/>
          <p:cNvSpPr/>
          <p:nvPr/>
        </p:nvSpPr>
        <p:spPr>
          <a:xfrm>
            <a:off x="548640" y="1371600"/>
            <a:ext cx="2066544" cy="4663440"/>
          </a:xfrm>
          <a:prstGeom prst="roundRect">
            <a:avLst>
              <a:gd name="adj" fmla="val 531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9808" y="160020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27" y="1753819"/>
            <a:ext cx="332842" cy="33284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49808" y="23774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Projects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749808" y="2880360"/>
            <a:ext cx="174650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One record per project with a single ID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Client, mentor, architect, designer, supervisor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Scope, site address, documents and MOMs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Every task and flow linked to its project</a:t>
            </a:r>
            <a:endParaRPr lang="en-US" sz="1300" dirty="0"/>
          </a:p>
        </p:txBody>
      </p:sp>
      <p:sp>
        <p:nvSpPr>
          <p:cNvPr id="9" name="build Milestone Tracker"/>
          <p:cNvSpPr/>
          <p:nvPr/>
        </p:nvSpPr>
        <p:spPr>
          <a:xfrm>
            <a:off x="2798064" y="1371600"/>
            <a:ext cx="2066544" cy="4663440"/>
          </a:xfrm>
          <a:prstGeom prst="roundRect">
            <a:avLst>
              <a:gd name="adj" fmla="val 531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999232" y="160020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851" y="1753819"/>
            <a:ext cx="332842" cy="33284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999232" y="23774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Milestone Tracker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2999232" y="2880360"/>
            <a:ext cx="174650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21 stages from Studio Niva's own list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Done, Ongoing, Upcoming, NA, On Hold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Planned vs actual dates, late flags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All sites on one board</a:t>
            </a:r>
            <a:endParaRPr lang="en-US" sz="1300" dirty="0"/>
          </a:p>
        </p:txBody>
      </p:sp>
      <p:sp>
        <p:nvSpPr>
          <p:cNvPr id="14" name="build Scorecard"/>
          <p:cNvSpPr/>
          <p:nvPr/>
        </p:nvSpPr>
        <p:spPr>
          <a:xfrm>
            <a:off x="5047488" y="1371600"/>
            <a:ext cx="2066544" cy="4663440"/>
          </a:xfrm>
          <a:prstGeom prst="roundRect">
            <a:avLst>
              <a:gd name="adj" fmla="val 531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248656" y="160020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275" y="1753819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248656" y="23774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Scorecard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5248656" y="2880360"/>
            <a:ext cx="174650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Counts each change of due date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Second change moves the task a week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Weekly red / yellow / green per person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Next week's target mix vs actual</a:t>
            </a:r>
            <a:endParaRPr lang="en-US" sz="1300" dirty="0"/>
          </a:p>
        </p:txBody>
      </p:sp>
      <p:sp>
        <p:nvSpPr>
          <p:cNvPr id="19" name="build Claims approval"/>
          <p:cNvSpPr/>
          <p:nvPr/>
        </p:nvSpPr>
        <p:spPr>
          <a:xfrm>
            <a:off x="7296912" y="1371600"/>
            <a:ext cx="2066544" cy="4663440"/>
          </a:xfrm>
          <a:prstGeom prst="roundRect">
            <a:avLst>
              <a:gd name="adj" fmla="val 531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498080" y="160020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699" y="1753819"/>
            <a:ext cx="332842" cy="33284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498080" y="23774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Claims approval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7498080" y="2880360"/>
            <a:ext cx="174650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Conveyance with photo of the bill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Approve or reject in one tap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Monthly total per person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Paid status recorded</a:t>
            </a:r>
            <a:endParaRPr lang="en-US" sz="1300" dirty="0"/>
          </a:p>
        </p:txBody>
      </p:sp>
      <p:sp>
        <p:nvSpPr>
          <p:cNvPr id="24" name="build Client Care"/>
          <p:cNvSpPr/>
          <p:nvPr/>
        </p:nvSpPr>
        <p:spPr>
          <a:xfrm>
            <a:off x="9546336" y="1371600"/>
            <a:ext cx="2066544" cy="4663440"/>
          </a:xfrm>
          <a:prstGeom prst="roundRect">
            <a:avLst>
              <a:gd name="adj" fmla="val 531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9747504" y="160020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1123" y="1753819"/>
            <a:ext cx="332842" cy="33284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747504" y="23774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Client Care</a:t>
            </a:r>
            <a:endParaRPr lang="en-US" sz="1700" dirty="0"/>
          </a:p>
        </p:txBody>
      </p:sp>
      <p:sp>
        <p:nvSpPr>
          <p:cNvPr id="28" name="Text 20"/>
          <p:cNvSpPr txBox="1"/>
          <p:nvPr/>
        </p:nvSpPr>
        <p:spPr>
          <a:xfrm>
            <a:off x="9747504" y="2880360"/>
            <a:ext cx="174650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Family members under each client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Birthday and anniversary reminders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Feedback form at handover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Score per project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Projects and Milestone Tracker come first: everything else links to them.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6422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 real project, end to end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Residence at F-86, Ashok Vihar: Studio Niva's busiest site, with 155 tasks delegated so far</a:t>
            </a:r>
            <a:endParaRPr lang="en-US" sz="1800" dirty="0"/>
          </a:p>
        </p:txBody>
      </p:sp>
      <p:pic>
        <p:nvPicPr>
          <p:cNvPr id="4" name="Studio Niva mark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8778240" y="1828800"/>
            <a:ext cx="2743200" cy="2743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Milestone Tracker: the whole site on one screen</a:t>
            </a:r>
            <a:endParaRPr lang="en-US" sz="3000" dirty="0"/>
          </a:p>
        </p:txBody>
      </p:sp>
      <p:sp>
        <p:nvSpPr>
          <p:cNvPr id="4" name="stage Site Survey"/>
          <p:cNvSpPr/>
          <p:nvPr/>
        </p:nvSpPr>
        <p:spPr>
          <a:xfrm>
            <a:off x="548640" y="1417320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490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Site Survey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5740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</a:rPr>
              <a:t>Done</a:t>
            </a:r>
            <a:endParaRPr lang="en-US" sz="1000" dirty="0"/>
          </a:p>
        </p:txBody>
      </p:sp>
      <p:sp>
        <p:nvSpPr>
          <p:cNvPr id="8" name="stage Foundation"/>
          <p:cNvSpPr/>
          <p:nvPr/>
        </p:nvSpPr>
        <p:spPr>
          <a:xfrm>
            <a:off x="1719072" y="1417320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810512" y="1490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02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810512" y="169164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Foundation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810512" y="205740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Not needed</a:t>
            </a:r>
            <a:endParaRPr lang="en-US" sz="1000" dirty="0"/>
          </a:p>
        </p:txBody>
      </p:sp>
      <p:sp>
        <p:nvSpPr>
          <p:cNvPr id="12" name="stage Plinth Beam"/>
          <p:cNvSpPr/>
          <p:nvPr/>
        </p:nvSpPr>
        <p:spPr>
          <a:xfrm>
            <a:off x="2889504" y="1417320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80944" y="1490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03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980944" y="169164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Plinth Beam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980944" y="205740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Not needed</a:t>
            </a:r>
            <a:endParaRPr lang="en-US" sz="1000" dirty="0"/>
          </a:p>
        </p:txBody>
      </p:sp>
      <p:sp>
        <p:nvSpPr>
          <p:cNvPr id="16" name="stage DPC Waterproofing"/>
          <p:cNvSpPr/>
          <p:nvPr/>
        </p:nvSpPr>
        <p:spPr>
          <a:xfrm>
            <a:off x="4059936" y="1417320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151376" y="1490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04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151376" y="169164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DPC Waterproofing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151376" y="205740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Not needed</a:t>
            </a:r>
            <a:endParaRPr lang="en-US" sz="1000" dirty="0"/>
          </a:p>
        </p:txBody>
      </p:sp>
      <p:sp>
        <p:nvSpPr>
          <p:cNvPr id="20" name="stage Stilt Brickwork"/>
          <p:cNvSpPr/>
          <p:nvPr/>
        </p:nvSpPr>
        <p:spPr>
          <a:xfrm>
            <a:off x="5230368" y="1417320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21808" y="1490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05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321808" y="169164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Stilt Brickwork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21808" y="205740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Not needed</a:t>
            </a:r>
            <a:endParaRPr lang="en-US" sz="1000" dirty="0"/>
          </a:p>
        </p:txBody>
      </p:sp>
      <p:sp>
        <p:nvSpPr>
          <p:cNvPr id="24" name="stage Sewerage"/>
          <p:cNvSpPr/>
          <p:nvPr/>
        </p:nvSpPr>
        <p:spPr>
          <a:xfrm>
            <a:off x="6400800" y="1417320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92240" y="1490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06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492240" y="169164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Sewerage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492240" y="205740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Not needed</a:t>
            </a:r>
            <a:endParaRPr lang="en-US" sz="1000" dirty="0"/>
          </a:p>
        </p:txBody>
      </p:sp>
      <p:sp>
        <p:nvSpPr>
          <p:cNvPr id="28" name="stage Slab Casting"/>
          <p:cNvSpPr/>
          <p:nvPr/>
        </p:nvSpPr>
        <p:spPr>
          <a:xfrm>
            <a:off x="7571232" y="1417320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662672" y="1490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07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662672" y="169164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Slab Casting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662672" y="205740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Not needed</a:t>
            </a:r>
            <a:endParaRPr lang="en-US" sz="1000" dirty="0"/>
          </a:p>
        </p:txBody>
      </p:sp>
      <p:sp>
        <p:nvSpPr>
          <p:cNvPr id="32" name="stage Brickwork / Rangat"/>
          <p:cNvSpPr/>
          <p:nvPr/>
        </p:nvSpPr>
        <p:spPr>
          <a:xfrm>
            <a:off x="548640" y="2450592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0080" y="25237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08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2724912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Brickwork / Rangat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309067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Not needed</a:t>
            </a:r>
            <a:endParaRPr lang="en-US" sz="1000" dirty="0"/>
          </a:p>
        </p:txBody>
      </p:sp>
      <p:sp>
        <p:nvSpPr>
          <p:cNvPr id="36" name="stage Wall Plumbing"/>
          <p:cNvSpPr/>
          <p:nvPr/>
        </p:nvSpPr>
        <p:spPr>
          <a:xfrm>
            <a:off x="1719072" y="2450592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810512" y="25237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09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810512" y="2724912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Wall Plumbing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810512" y="309067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</a:rPr>
              <a:t>Done</a:t>
            </a:r>
            <a:endParaRPr lang="en-US" sz="1000" dirty="0"/>
          </a:p>
        </p:txBody>
      </p:sp>
      <p:sp>
        <p:nvSpPr>
          <p:cNvPr id="40" name="stage Wall Electrical"/>
          <p:cNvSpPr/>
          <p:nvPr/>
        </p:nvSpPr>
        <p:spPr>
          <a:xfrm>
            <a:off x="2889504" y="2450592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980944" y="25237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10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2980944" y="2724912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Wall Electrical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2980944" y="309067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</a:rPr>
              <a:t>Done</a:t>
            </a:r>
            <a:endParaRPr lang="en-US" sz="1000" dirty="0"/>
          </a:p>
        </p:txBody>
      </p:sp>
      <p:sp>
        <p:nvSpPr>
          <p:cNvPr id="44" name="stage AC Routing"/>
          <p:cNvSpPr/>
          <p:nvPr/>
        </p:nvSpPr>
        <p:spPr>
          <a:xfrm>
            <a:off x="4059936" y="2450592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151376" y="25237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11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4151376" y="2724912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AC Routing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4151376" y="309067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</a:rPr>
              <a:t>Done</a:t>
            </a:r>
            <a:endParaRPr lang="en-US" sz="1000" dirty="0"/>
          </a:p>
        </p:txBody>
      </p:sp>
      <p:sp>
        <p:nvSpPr>
          <p:cNvPr id="48" name="stage Pipe Route Records"/>
          <p:cNvSpPr/>
          <p:nvPr/>
        </p:nvSpPr>
        <p:spPr>
          <a:xfrm>
            <a:off x="5230368" y="2450592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321808" y="25237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12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5321808" y="2724912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Pipe Route Records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5321808" y="309067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</a:rPr>
              <a:t>Done</a:t>
            </a:r>
            <a:endParaRPr lang="en-US" sz="1000" dirty="0"/>
          </a:p>
        </p:txBody>
      </p:sp>
      <p:sp>
        <p:nvSpPr>
          <p:cNvPr id="52" name="stage Plaster"/>
          <p:cNvSpPr/>
          <p:nvPr/>
        </p:nvSpPr>
        <p:spPr>
          <a:xfrm>
            <a:off x="6400800" y="2450592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492240" y="25237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13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2724912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Plaster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6492240" y="309067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</a:rPr>
              <a:t>Done</a:t>
            </a:r>
            <a:endParaRPr lang="en-US" sz="1000" dirty="0"/>
          </a:p>
        </p:txBody>
      </p:sp>
      <p:sp>
        <p:nvSpPr>
          <p:cNvPr id="56" name="stage PCC and Levels"/>
          <p:cNvSpPr/>
          <p:nvPr/>
        </p:nvSpPr>
        <p:spPr>
          <a:xfrm>
            <a:off x="7571232" y="2450592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662672" y="25237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14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7662672" y="2724912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PCC and Levels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7662672" y="309067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</a:rPr>
              <a:t>Done</a:t>
            </a:r>
            <a:endParaRPr lang="en-US" sz="1000" dirty="0"/>
          </a:p>
        </p:txBody>
      </p:sp>
      <p:sp>
        <p:nvSpPr>
          <p:cNvPr id="60" name="stage False Ceiling"/>
          <p:cNvSpPr/>
          <p:nvPr/>
        </p:nvSpPr>
        <p:spPr>
          <a:xfrm>
            <a:off x="548640" y="3483864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40080" y="3557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15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640080" y="3758184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False Ceiling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640080" y="412394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</a:rPr>
              <a:t>Done</a:t>
            </a:r>
            <a:endParaRPr lang="en-US" sz="1000" dirty="0"/>
          </a:p>
        </p:txBody>
      </p:sp>
      <p:sp>
        <p:nvSpPr>
          <p:cNvPr id="64" name="stage Marble / Tile Laying"/>
          <p:cNvSpPr/>
          <p:nvPr/>
        </p:nvSpPr>
        <p:spPr>
          <a:xfrm>
            <a:off x="1719072" y="3483864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1810512" y="3557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16</a:t>
            </a:r>
            <a:endParaRPr lang="en-US" sz="1000" dirty="0"/>
          </a:p>
        </p:txBody>
      </p:sp>
      <p:sp>
        <p:nvSpPr>
          <p:cNvPr id="66" name="Text 63"/>
          <p:cNvSpPr txBox="1"/>
          <p:nvPr/>
        </p:nvSpPr>
        <p:spPr>
          <a:xfrm>
            <a:off x="1810512" y="3758184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Marble / Tile Laying</a:t>
            </a:r>
            <a:endParaRPr lang="en-US" sz="1100" dirty="0"/>
          </a:p>
        </p:txBody>
      </p:sp>
      <p:sp>
        <p:nvSpPr>
          <p:cNvPr id="67" name="Text 64"/>
          <p:cNvSpPr txBox="1"/>
          <p:nvPr/>
        </p:nvSpPr>
        <p:spPr>
          <a:xfrm>
            <a:off x="1810512" y="412394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</a:rPr>
              <a:t>Ongoing</a:t>
            </a:r>
            <a:endParaRPr lang="en-US" sz="1000" dirty="0"/>
          </a:p>
        </p:txBody>
      </p:sp>
      <p:sp>
        <p:nvSpPr>
          <p:cNvPr id="68" name="stage Waste Tiling"/>
          <p:cNvSpPr/>
          <p:nvPr/>
        </p:nvSpPr>
        <p:spPr>
          <a:xfrm>
            <a:off x="2889504" y="3483864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2980944" y="3557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17</a:t>
            </a:r>
            <a:endParaRPr lang="en-US" sz="1000" dirty="0"/>
          </a:p>
        </p:txBody>
      </p:sp>
      <p:sp>
        <p:nvSpPr>
          <p:cNvPr id="70" name="Text 67"/>
          <p:cNvSpPr txBox="1"/>
          <p:nvPr/>
        </p:nvSpPr>
        <p:spPr>
          <a:xfrm>
            <a:off x="2980944" y="3758184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Waste Tiling</a:t>
            </a:r>
            <a:endParaRPr lang="en-US" sz="1100" dirty="0"/>
          </a:p>
        </p:txBody>
      </p:sp>
      <p:sp>
        <p:nvSpPr>
          <p:cNvPr id="71" name="Text 68"/>
          <p:cNvSpPr txBox="1"/>
          <p:nvPr/>
        </p:nvSpPr>
        <p:spPr>
          <a:xfrm>
            <a:off x="2980944" y="412394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</a:rPr>
              <a:t>Done</a:t>
            </a:r>
            <a:endParaRPr lang="en-US" sz="1000" dirty="0"/>
          </a:p>
        </p:txBody>
      </p:sp>
      <p:sp>
        <p:nvSpPr>
          <p:cNvPr id="72" name="stage Stone / Tile Work"/>
          <p:cNvSpPr/>
          <p:nvPr/>
        </p:nvSpPr>
        <p:spPr>
          <a:xfrm>
            <a:off x="4059936" y="3483864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151376" y="3557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18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4151376" y="3758184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Stone / Tile Work</a:t>
            </a:r>
            <a:endParaRPr lang="en-US" sz="1100" dirty="0"/>
          </a:p>
        </p:txBody>
      </p:sp>
      <p:sp>
        <p:nvSpPr>
          <p:cNvPr id="75" name="Text 72"/>
          <p:cNvSpPr txBox="1"/>
          <p:nvPr/>
        </p:nvSpPr>
        <p:spPr>
          <a:xfrm>
            <a:off x="4151376" y="412394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</a:rPr>
              <a:t>Ongoing</a:t>
            </a:r>
            <a:endParaRPr lang="en-US" sz="1000" dirty="0"/>
          </a:p>
        </p:txBody>
      </p:sp>
      <p:sp>
        <p:nvSpPr>
          <p:cNvPr id="76" name="stage Woodwork"/>
          <p:cNvSpPr/>
          <p:nvPr/>
        </p:nvSpPr>
        <p:spPr>
          <a:xfrm>
            <a:off x="5230368" y="3483864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5321808" y="3557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19</a:t>
            </a:r>
            <a:endParaRPr lang="en-US" sz="1000" dirty="0"/>
          </a:p>
        </p:txBody>
      </p:sp>
      <p:sp>
        <p:nvSpPr>
          <p:cNvPr id="78" name="Text 75"/>
          <p:cNvSpPr txBox="1"/>
          <p:nvPr/>
        </p:nvSpPr>
        <p:spPr>
          <a:xfrm>
            <a:off x="5321808" y="3758184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Woodwork</a:t>
            </a:r>
            <a:endParaRPr lang="en-US" sz="1100" dirty="0"/>
          </a:p>
        </p:txBody>
      </p:sp>
      <p:sp>
        <p:nvSpPr>
          <p:cNvPr id="79" name="Text 76"/>
          <p:cNvSpPr txBox="1"/>
          <p:nvPr/>
        </p:nvSpPr>
        <p:spPr>
          <a:xfrm>
            <a:off x="5321808" y="412394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</a:rPr>
              <a:t>Ongoing</a:t>
            </a:r>
            <a:endParaRPr lang="en-US" sz="1000" dirty="0"/>
          </a:p>
        </p:txBody>
      </p:sp>
      <p:sp>
        <p:nvSpPr>
          <p:cNvPr id="80" name="stage Finishes"/>
          <p:cNvSpPr/>
          <p:nvPr/>
        </p:nvSpPr>
        <p:spPr>
          <a:xfrm>
            <a:off x="6400800" y="3483864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6492240" y="3557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20</a:t>
            </a:r>
            <a:endParaRPr lang="en-US" sz="1000" dirty="0"/>
          </a:p>
        </p:txBody>
      </p:sp>
      <p:sp>
        <p:nvSpPr>
          <p:cNvPr id="82" name="Text 79"/>
          <p:cNvSpPr txBox="1"/>
          <p:nvPr/>
        </p:nvSpPr>
        <p:spPr>
          <a:xfrm>
            <a:off x="6492240" y="3758184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Finishes</a:t>
            </a:r>
            <a:endParaRPr lang="en-US" sz="1100" dirty="0"/>
          </a:p>
        </p:txBody>
      </p:sp>
      <p:sp>
        <p:nvSpPr>
          <p:cNvPr id="83" name="Text 80"/>
          <p:cNvSpPr txBox="1"/>
          <p:nvPr/>
        </p:nvSpPr>
        <p:spPr>
          <a:xfrm>
            <a:off x="6492240" y="412394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5309"/>
                </a:solidFill>
              </a:rPr>
              <a:t>Upcoming</a:t>
            </a:r>
            <a:endParaRPr lang="en-US" sz="1000" dirty="0"/>
          </a:p>
        </p:txBody>
      </p:sp>
      <p:sp>
        <p:nvSpPr>
          <p:cNvPr id="84" name="stage Furniture Marking"/>
          <p:cNvSpPr/>
          <p:nvPr/>
        </p:nvSpPr>
        <p:spPr>
          <a:xfrm>
            <a:off x="7571232" y="3483864"/>
            <a:ext cx="1078992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7662672" y="3557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21</a:t>
            </a:r>
            <a:endParaRPr lang="en-US" sz="1000" dirty="0"/>
          </a:p>
        </p:txBody>
      </p:sp>
      <p:sp>
        <p:nvSpPr>
          <p:cNvPr id="86" name="Text 83"/>
          <p:cNvSpPr txBox="1"/>
          <p:nvPr/>
        </p:nvSpPr>
        <p:spPr>
          <a:xfrm>
            <a:off x="7662672" y="3758184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Furniture Marking</a:t>
            </a:r>
            <a:endParaRPr lang="en-US" sz="1100" dirty="0"/>
          </a:p>
        </p:txBody>
      </p:sp>
      <p:sp>
        <p:nvSpPr>
          <p:cNvPr id="87" name="Text 84"/>
          <p:cNvSpPr txBox="1"/>
          <p:nvPr/>
        </p:nvSpPr>
        <p:spPr>
          <a:xfrm>
            <a:off x="7662672" y="412394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Not needed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548640" y="466344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868680" y="4617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Done: 9 stages</a:t>
            </a:r>
            <a:endParaRPr lang="en-US" sz="1200" dirty="0"/>
          </a:p>
        </p:txBody>
      </p:sp>
      <p:sp>
        <p:nvSpPr>
          <p:cNvPr id="90" name="Shape 87"/>
          <p:cNvSpPr/>
          <p:nvPr/>
        </p:nvSpPr>
        <p:spPr>
          <a:xfrm>
            <a:off x="2560320" y="466344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2880360" y="4617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Ongoing: 3 stages</a:t>
            </a:r>
            <a:endParaRPr lang="en-US" sz="1200" dirty="0"/>
          </a:p>
        </p:txBody>
      </p:sp>
      <p:sp>
        <p:nvSpPr>
          <p:cNvPr id="92" name="Shape 89"/>
          <p:cNvSpPr/>
          <p:nvPr/>
        </p:nvSpPr>
        <p:spPr>
          <a:xfrm>
            <a:off x="4572000" y="466344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4892040" y="4617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Upcoming: 1 stage</a:t>
            </a:r>
            <a:endParaRPr lang="en-US" sz="1200" dirty="0"/>
          </a:p>
        </p:txBody>
      </p:sp>
      <p:sp>
        <p:nvSpPr>
          <p:cNvPr id="94" name="Shape 91"/>
          <p:cNvSpPr/>
          <p:nvPr/>
        </p:nvSpPr>
        <p:spPr>
          <a:xfrm>
            <a:off x="6583680" y="466344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6903720" y="4617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Not needed: 8 stages</a:t>
            </a:r>
            <a:endParaRPr lang="en-US" sz="1200" dirty="0"/>
          </a:p>
        </p:txBody>
      </p:sp>
      <p:sp>
        <p:nvSpPr>
          <p:cNvPr id="96" name="Text 93"/>
          <p:cNvSpPr txBox="1"/>
          <p:nvPr/>
        </p:nvSpPr>
        <p:spPr>
          <a:xfrm>
            <a:off x="548640" y="51206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Three stages run at the same time.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Marble, stone work and woodwork move in parallel, so the tracker shows each stage side by side instead of forcing one order.</a:t>
            </a:r>
            <a:endParaRPr lang="en-US" sz="1400" dirty="0"/>
          </a:p>
        </p:txBody>
      </p:sp>
      <p:sp>
        <p:nvSpPr>
          <p:cNvPr id="97" name="project card"/>
          <p:cNvSpPr/>
          <p:nvPr/>
        </p:nvSpPr>
        <p:spPr>
          <a:xfrm>
            <a:off x="9098280" y="1417320"/>
            <a:ext cx="2514600" cy="4526280"/>
          </a:xfrm>
          <a:prstGeom prst="roundRect">
            <a:avLst>
              <a:gd name="adj" fmla="val 4364"/>
            </a:avLst>
          </a:prstGeom>
          <a:solidFill>
            <a:srgbClr val="0B0F1A"/>
          </a:solidFill>
          <a:ln/>
        </p:spPr>
      </p:sp>
      <p:sp>
        <p:nvSpPr>
          <p:cNvPr id="98" name="Text 95"/>
          <p:cNvSpPr txBox="1"/>
          <p:nvPr/>
        </p:nvSpPr>
        <p:spPr>
          <a:xfrm>
            <a:off x="9326880" y="16459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3CDBC"/>
                </a:solidFill>
              </a:rPr>
              <a:t>PROJECT 140</a:t>
            </a:r>
            <a:endParaRPr lang="en-US" sz="1000" dirty="0"/>
          </a:p>
        </p:txBody>
      </p:sp>
      <p:sp>
        <p:nvSpPr>
          <p:cNvPr id="99" name="Text 96"/>
          <p:cNvSpPr txBox="1"/>
          <p:nvPr/>
        </p:nvSpPr>
        <p:spPr>
          <a:xfrm>
            <a:off x="9326880" y="18745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Residence at F-86, Ashok Vihar</a:t>
            </a:r>
            <a:endParaRPr lang="en-US" sz="1500" dirty="0"/>
          </a:p>
        </p:txBody>
      </p:sp>
      <p:sp>
        <p:nvSpPr>
          <p:cNvPr id="100" name="Text 97"/>
          <p:cNvSpPr txBox="1"/>
          <p:nvPr/>
        </p:nvSpPr>
        <p:spPr>
          <a:xfrm>
            <a:off x="9326880" y="26060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Mentor</a:t>
            </a:r>
            <a:endParaRPr lang="en-US" sz="1000" dirty="0"/>
          </a:p>
        </p:txBody>
      </p:sp>
      <p:sp>
        <p:nvSpPr>
          <p:cNvPr id="101" name="Text 98"/>
          <p:cNvSpPr txBox="1"/>
          <p:nvPr/>
        </p:nvSpPr>
        <p:spPr>
          <a:xfrm>
            <a:off x="9326880" y="27889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Arushi</a:t>
            </a:r>
            <a:endParaRPr lang="en-US" sz="1300" dirty="0"/>
          </a:p>
        </p:txBody>
      </p:sp>
      <p:sp>
        <p:nvSpPr>
          <p:cNvPr id="102" name="Text 99"/>
          <p:cNvSpPr txBox="1"/>
          <p:nvPr/>
        </p:nvSpPr>
        <p:spPr>
          <a:xfrm>
            <a:off x="9326880" y="30632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Architect</a:t>
            </a:r>
            <a:endParaRPr lang="en-US" sz="1000" dirty="0"/>
          </a:p>
        </p:txBody>
      </p:sp>
      <p:sp>
        <p:nvSpPr>
          <p:cNvPr id="103" name="Text 100"/>
          <p:cNvSpPr txBox="1"/>
          <p:nvPr/>
        </p:nvSpPr>
        <p:spPr>
          <a:xfrm>
            <a:off x="9326880" y="32461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Ritika</a:t>
            </a:r>
            <a:endParaRPr lang="en-US" sz="1300" dirty="0"/>
          </a:p>
        </p:txBody>
      </p:sp>
      <p:sp>
        <p:nvSpPr>
          <p:cNvPr id="104" name="Text 101"/>
          <p:cNvSpPr txBox="1"/>
          <p:nvPr/>
        </p:nvSpPr>
        <p:spPr>
          <a:xfrm>
            <a:off x="9326880" y="35204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Designer</a:t>
            </a:r>
            <a:endParaRPr lang="en-US" sz="1000" dirty="0"/>
          </a:p>
        </p:txBody>
      </p:sp>
      <p:sp>
        <p:nvSpPr>
          <p:cNvPr id="105" name="Text 102"/>
          <p:cNvSpPr txBox="1"/>
          <p:nvPr/>
        </p:nvSpPr>
        <p:spPr>
          <a:xfrm>
            <a:off x="9326880" y="37033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Kasvi</a:t>
            </a:r>
            <a:endParaRPr lang="en-US" sz="1300" dirty="0"/>
          </a:p>
        </p:txBody>
      </p:sp>
      <p:sp>
        <p:nvSpPr>
          <p:cNvPr id="106" name="Text 103"/>
          <p:cNvSpPr txBox="1"/>
          <p:nvPr/>
        </p:nvSpPr>
        <p:spPr>
          <a:xfrm>
            <a:off x="9326880" y="39776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Site supervisor</a:t>
            </a:r>
            <a:endParaRPr lang="en-US" sz="1000" dirty="0"/>
          </a:p>
        </p:txBody>
      </p:sp>
      <p:sp>
        <p:nvSpPr>
          <p:cNvPr id="107" name="Text 104"/>
          <p:cNvSpPr txBox="1"/>
          <p:nvPr/>
        </p:nvSpPr>
        <p:spPr>
          <a:xfrm>
            <a:off x="9326880" y="41605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Arvind</a:t>
            </a:r>
            <a:endParaRPr lang="en-US" sz="1300" dirty="0"/>
          </a:p>
        </p:txBody>
      </p:sp>
      <p:sp>
        <p:nvSpPr>
          <p:cNvPr id="108" name="Text 105"/>
          <p:cNvSpPr txBox="1"/>
          <p:nvPr/>
        </p:nvSpPr>
        <p:spPr>
          <a:xfrm>
            <a:off x="9326880" y="44348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Scope</a:t>
            </a:r>
            <a:endParaRPr lang="en-US" sz="1000" dirty="0"/>
          </a:p>
        </p:txBody>
      </p:sp>
      <p:sp>
        <p:nvSpPr>
          <p:cNvPr id="109" name="Text 106"/>
          <p:cNvSpPr txBox="1"/>
          <p:nvPr/>
        </p:nvSpPr>
        <p:spPr>
          <a:xfrm>
            <a:off x="9326880" y="46177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Architecture + Interiors</a:t>
            </a:r>
            <a:endParaRPr lang="en-US" sz="1300" dirty="0"/>
          </a:p>
        </p:txBody>
      </p:sp>
      <p:sp>
        <p:nvSpPr>
          <p:cNvPr id="110" name="Text 107"/>
          <p:cNvSpPr txBox="1"/>
          <p:nvPr/>
        </p:nvSpPr>
        <p:spPr>
          <a:xfrm>
            <a:off x="9326880" y="4937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</a:rPr>
              <a:t>9 of 13</a:t>
            </a:r>
            <a:endParaRPr lang="en-US" sz="2800" dirty="0"/>
          </a:p>
        </p:txBody>
      </p:sp>
      <p:sp>
        <p:nvSpPr>
          <p:cNvPr id="111" name="Text 108"/>
          <p:cNvSpPr txBox="1"/>
          <p:nvPr/>
        </p:nvSpPr>
        <p:spPr>
          <a:xfrm>
            <a:off x="9326880" y="5394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applicable stages done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6422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FMS runs the step-by-step work inside a stage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538021"/>
            <a:ext cx="261518" cy="26151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8720" y="13990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Client change request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1188720" y="1719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F-86 had MBR, son's bedroom and double-height changes</a:t>
            </a:r>
            <a:endParaRPr lang="en-US" sz="1200" dirty="0"/>
          </a:p>
        </p:txBody>
      </p:sp>
      <p:sp>
        <p:nvSpPr>
          <p:cNvPr id="8" name="Client change request step 1"/>
          <p:cNvSpPr/>
          <p:nvPr/>
        </p:nvSpPr>
        <p:spPr>
          <a:xfrm>
            <a:off x="548640" y="2194560"/>
            <a:ext cx="2103120" cy="960120"/>
          </a:xfrm>
          <a:prstGeom prst="chevron">
            <a:avLst/>
          </a:prstGeom>
          <a:solidFill>
            <a:srgbClr val="E6FA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1051560" y="235000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Client asks for a change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051560" y="2788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</a:rPr>
              <a:t>Mentor</a:t>
            </a:r>
            <a:endParaRPr lang="en-US" sz="1000" dirty="0"/>
          </a:p>
        </p:txBody>
      </p:sp>
      <p:sp>
        <p:nvSpPr>
          <p:cNvPr id="11" name="Client change request step 2"/>
          <p:cNvSpPr/>
          <p:nvPr/>
        </p:nvSpPr>
        <p:spPr>
          <a:xfrm>
            <a:off x="2788920" y="2194560"/>
            <a:ext cx="2103120" cy="960120"/>
          </a:xfrm>
          <a:prstGeom prst="chevron">
            <a:avLst/>
          </a:prstGeom>
          <a:solidFill>
            <a:srgbClr val="E6FAF7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3291840" y="235000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Designer revises drawing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291840" y="2788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</a:rPr>
              <a:t>Kasvi</a:t>
            </a:r>
            <a:endParaRPr lang="en-US" sz="1000" dirty="0"/>
          </a:p>
        </p:txBody>
      </p:sp>
      <p:sp>
        <p:nvSpPr>
          <p:cNvPr id="14" name="Client change request step 3"/>
          <p:cNvSpPr/>
          <p:nvPr/>
        </p:nvSpPr>
        <p:spPr>
          <a:xfrm>
            <a:off x="5029200" y="2194560"/>
            <a:ext cx="2103120" cy="960120"/>
          </a:xfrm>
          <a:prstGeom prst="chevron">
            <a:avLst/>
          </a:prstGeom>
          <a:solidFill>
            <a:srgbClr val="E6FAF7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532120" y="235000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Mentor review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532120" y="2788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</a:rPr>
              <a:t>Arushi</a:t>
            </a:r>
            <a:endParaRPr lang="en-US" sz="1000" dirty="0"/>
          </a:p>
        </p:txBody>
      </p:sp>
      <p:sp>
        <p:nvSpPr>
          <p:cNvPr id="17" name="Client change request step 4"/>
          <p:cNvSpPr/>
          <p:nvPr/>
        </p:nvSpPr>
        <p:spPr>
          <a:xfrm>
            <a:off x="7269480" y="2194560"/>
            <a:ext cx="2103120" cy="960120"/>
          </a:xfrm>
          <a:prstGeom prst="chevron">
            <a:avLst/>
          </a:prstGeom>
          <a:solidFill>
            <a:srgbClr val="E6FAF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772400" y="235000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Client approves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772400" y="2788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</a:rPr>
              <a:t>Client</a:t>
            </a:r>
            <a:endParaRPr lang="en-US" sz="1000" dirty="0"/>
          </a:p>
        </p:txBody>
      </p:sp>
      <p:sp>
        <p:nvSpPr>
          <p:cNvPr id="20" name="Client change request step 5"/>
          <p:cNvSpPr/>
          <p:nvPr/>
        </p:nvSpPr>
        <p:spPr>
          <a:xfrm>
            <a:off x="9509760" y="2194560"/>
            <a:ext cx="2103120" cy="960120"/>
          </a:xfrm>
          <a:prstGeom prst="chevron">
            <a:avLst/>
          </a:prstGeom>
          <a:solidFill>
            <a:srgbClr val="14B8A6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10012680" y="235000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Issued to site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0012680" y="2788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Arvind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3961181"/>
            <a:ext cx="261518" cy="26151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188720" y="3822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Woodwork execution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188720" y="4142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Runs while the Woodwork stage is Ongoing</a:t>
            </a:r>
            <a:endParaRPr lang="en-US" sz="1200" dirty="0"/>
          </a:p>
        </p:txBody>
      </p:sp>
      <p:sp>
        <p:nvSpPr>
          <p:cNvPr id="27" name="Woodwork execution step 1"/>
          <p:cNvSpPr/>
          <p:nvPr/>
        </p:nvSpPr>
        <p:spPr>
          <a:xfrm>
            <a:off x="548640" y="4617720"/>
            <a:ext cx="2103120" cy="960120"/>
          </a:xfrm>
          <a:prstGeom prst="chevron">
            <a:avLst/>
          </a:prstGeom>
          <a:solidFill>
            <a:srgbClr val="E6FAF7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1051560" y="477316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Shop drawings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1051560" y="52120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</a:rPr>
              <a:t>Designer</a:t>
            </a:r>
            <a:endParaRPr lang="en-US" sz="1000" dirty="0"/>
          </a:p>
        </p:txBody>
      </p:sp>
      <p:sp>
        <p:nvSpPr>
          <p:cNvPr id="30" name="Woodwork execution step 2"/>
          <p:cNvSpPr/>
          <p:nvPr/>
        </p:nvSpPr>
        <p:spPr>
          <a:xfrm>
            <a:off x="2788920" y="4617720"/>
            <a:ext cx="2103120" cy="960120"/>
          </a:xfrm>
          <a:prstGeom prst="chevron">
            <a:avLst/>
          </a:prstGeom>
          <a:solidFill>
            <a:srgbClr val="E6FAF7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3291840" y="477316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Client sign-off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3291840" y="52120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</a:rPr>
              <a:t>Client</a:t>
            </a:r>
            <a:endParaRPr lang="en-US" sz="1000" dirty="0"/>
          </a:p>
        </p:txBody>
      </p:sp>
      <p:sp>
        <p:nvSpPr>
          <p:cNvPr id="33" name="Woodwork execution step 3"/>
          <p:cNvSpPr/>
          <p:nvPr/>
        </p:nvSpPr>
        <p:spPr>
          <a:xfrm>
            <a:off x="5029200" y="4617720"/>
            <a:ext cx="2103120" cy="960120"/>
          </a:xfrm>
          <a:prstGeom prst="chevron">
            <a:avLst/>
          </a:prstGeom>
          <a:solidFill>
            <a:srgbClr val="E6FAF7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532120" y="477316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Order with carpenter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5532120" y="52120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</a:rPr>
              <a:t>Office</a:t>
            </a:r>
            <a:endParaRPr lang="en-US" sz="1000" dirty="0"/>
          </a:p>
        </p:txBody>
      </p:sp>
      <p:sp>
        <p:nvSpPr>
          <p:cNvPr id="36" name="Woodwork execution step 4"/>
          <p:cNvSpPr/>
          <p:nvPr/>
        </p:nvSpPr>
        <p:spPr>
          <a:xfrm>
            <a:off x="7269480" y="4617720"/>
            <a:ext cx="2103120" cy="960120"/>
          </a:xfrm>
          <a:prstGeom prst="chevron">
            <a:avLst/>
          </a:prstGeom>
          <a:solidFill>
            <a:srgbClr val="E6FAF7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7772400" y="477316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Installation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7772400" y="52120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</a:rPr>
              <a:t>Site supervisor</a:t>
            </a:r>
            <a:endParaRPr lang="en-US" sz="1000" dirty="0"/>
          </a:p>
        </p:txBody>
      </p:sp>
      <p:sp>
        <p:nvSpPr>
          <p:cNvPr id="39" name="Woodwork execution step 5"/>
          <p:cNvSpPr/>
          <p:nvPr/>
        </p:nvSpPr>
        <p:spPr>
          <a:xfrm>
            <a:off x="9509760" y="4617720"/>
            <a:ext cx="2103120" cy="960120"/>
          </a:xfrm>
          <a:prstGeom prst="chevron">
            <a:avLst/>
          </a:prstGeom>
          <a:solidFill>
            <a:srgbClr val="14B8A6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10012680" y="477316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Snag check</a:t>
            </a:r>
            <a:endParaRPr lang="en-US" sz="1200" dirty="0"/>
          </a:p>
        </p:txBody>
      </p:sp>
      <p:sp>
        <p:nvSpPr>
          <p:cNvPr id="41" name="Text 36"/>
          <p:cNvSpPr txBox="1"/>
          <p:nvPr/>
        </p:nvSpPr>
        <p:spPr>
          <a:xfrm>
            <a:off x="10012680" y="52120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Mentor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Each step has an owner, a target time and a reminder; nothing waits on a phone call.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6422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the pieces work together on F-86</a:t>
            </a:r>
            <a:endParaRPr lang="en-US" sz="3000" dirty="0"/>
          </a:p>
        </p:txBody>
      </p:sp>
      <p:sp>
        <p:nvSpPr>
          <p:cNvPr id="4" name="1. Milestone Tracker"/>
          <p:cNvSpPr/>
          <p:nvPr/>
        </p:nvSpPr>
        <p:spPr>
          <a:xfrm>
            <a:off x="548640" y="146304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82331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764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1. Milestone Tracker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377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Woodwork moves to Ongoing on F-86</a:t>
            </a:r>
            <a:endParaRPr lang="en-US" sz="1300" dirty="0"/>
          </a:p>
        </p:txBody>
      </p:sp>
      <p:sp>
        <p:nvSpPr>
          <p:cNvPr id="9" name="2. FMS flow starts"/>
          <p:cNvSpPr/>
          <p:nvPr/>
        </p:nvSpPr>
        <p:spPr>
          <a:xfrm>
            <a:off x="4343400" y="146304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0" y="16916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182331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57800" y="1764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2. FMS flow starts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72000" y="2377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Woodwork execution flow opens automatically with its five steps</a:t>
            </a:r>
            <a:endParaRPr lang="en-US" sz="1300" dirty="0"/>
          </a:p>
        </p:txBody>
      </p:sp>
      <p:sp>
        <p:nvSpPr>
          <p:cNvPr id="14" name="3. Tasks to people"/>
          <p:cNvSpPr/>
          <p:nvPr/>
        </p:nvSpPr>
        <p:spPr>
          <a:xfrm>
            <a:off x="8138160" y="146304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366760" y="16916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434" y="182331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052560" y="1764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3. Tasks to people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366760" y="2377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Each step creates a task with a due date, reminder and WhatsApp alert</a:t>
            </a:r>
            <a:endParaRPr lang="en-US" sz="1300" dirty="0"/>
          </a:p>
        </p:txBody>
      </p:sp>
      <p:sp>
        <p:nvSpPr>
          <p:cNvPr id="19" name="4. Checked and closed"/>
          <p:cNvSpPr/>
          <p:nvPr/>
        </p:nvSpPr>
        <p:spPr>
          <a:xfrm>
            <a:off x="8138160" y="39319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366760" y="4160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8434" y="4292194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052560" y="4233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4. Checked and closed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8366760" y="4846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Mentor signs off; the scorecard records on time or revised</a:t>
            </a:r>
            <a:endParaRPr lang="en-US" sz="1300" dirty="0"/>
          </a:p>
        </p:txBody>
      </p:sp>
      <p:sp>
        <p:nvSpPr>
          <p:cNvPr id="24" name="5. Stage marked Done"/>
          <p:cNvSpPr/>
          <p:nvPr/>
        </p:nvSpPr>
        <p:spPr>
          <a:xfrm>
            <a:off x="4343400" y="39319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572000" y="4160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674" y="4292194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57800" y="4233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5. Stage marked Done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0" y="4846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When the flow finishes, Woodwork turns Done on the tracker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4069080" y="237744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Shape 22"/>
          <p:cNvSpPr/>
          <p:nvPr/>
        </p:nvSpPr>
        <p:spPr>
          <a:xfrm>
            <a:off x="7863840" y="237744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1" name="Shape 23"/>
          <p:cNvSpPr/>
          <p:nvPr/>
        </p:nvSpPr>
        <p:spPr>
          <a:xfrm>
            <a:off x="9875520" y="3337560"/>
            <a:ext cx="0" cy="5486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Shape 24"/>
          <p:cNvSpPr/>
          <p:nvPr/>
        </p:nvSpPr>
        <p:spPr>
          <a:xfrm flipH="1">
            <a:off x="7909560" y="484632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owner dashboard"/>
          <p:cNvSpPr/>
          <p:nvPr/>
        </p:nvSpPr>
        <p:spPr>
          <a:xfrm>
            <a:off x="548640" y="39319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0B0F1A"/>
          </a:solidFill>
          <a:ln/>
        </p:spPr>
      </p:sp>
      <p:sp>
        <p:nvSpPr>
          <p:cNvPr id="34" name="Shape 26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4" y="4292194"/>
            <a:ext cx="285293" cy="285293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463040" y="42336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Owner dashboard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777240" y="4846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All sites, late stages, open approvals and this week's scorecard</a:t>
            </a:r>
            <a:endParaRPr lang="en-US" sz="1300" dirty="0"/>
          </a:p>
        </p:txBody>
      </p:sp>
      <p:sp>
        <p:nvSpPr>
          <p:cNvPr id="38" name="Shape 29"/>
          <p:cNvSpPr/>
          <p:nvPr/>
        </p:nvSpPr>
        <p:spPr>
          <a:xfrm flipH="1">
            <a:off x="4069080" y="484632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6422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each person sees in OmniFlow</a:t>
            </a:r>
            <a:endParaRPr lang="en-US" sz="3000" dirty="0"/>
          </a:p>
        </p:txBody>
      </p:sp>
      <p:sp>
        <p:nvSpPr>
          <p:cNvPr id="3" name="role Principal / Owner"/>
          <p:cNvSpPr/>
          <p:nvPr/>
        </p:nvSpPr>
        <p:spPr>
          <a:xfrm>
            <a:off x="548640" y="1371600"/>
            <a:ext cx="2066544" cy="3611880"/>
          </a:xfrm>
          <a:prstGeom prst="roundRect">
            <a:avLst>
              <a:gd name="adj" fmla="val 531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600200"/>
            <a:ext cx="640080" cy="640080"/>
          </a:xfrm>
          <a:prstGeom prst="ellipse">
            <a:avLst/>
          </a:prstGeom>
          <a:solidFill>
            <a:srgbClr val="F5EEE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27" y="17538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" y="23774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Principal / Owner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97180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All sites on one board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Late stages and red tasks flagged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Weekly scorecard per person</a:t>
            </a:r>
            <a:endParaRPr lang="en-US" sz="1300" dirty="0"/>
          </a:p>
        </p:txBody>
      </p:sp>
      <p:sp>
        <p:nvSpPr>
          <p:cNvPr id="8" name="role Mentor"/>
          <p:cNvSpPr/>
          <p:nvPr/>
        </p:nvSpPr>
        <p:spPr>
          <a:xfrm>
            <a:off x="2798064" y="1371600"/>
            <a:ext cx="2066544" cy="3611880"/>
          </a:xfrm>
          <a:prstGeom prst="roundRect">
            <a:avLst>
              <a:gd name="adj" fmla="val 531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99232" y="1600200"/>
            <a:ext cx="640080" cy="640080"/>
          </a:xfrm>
          <a:prstGeom prst="ellipse">
            <a:avLst/>
          </a:prstGeom>
          <a:solidFill>
            <a:srgbClr val="F5EEE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851" y="17538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99232" y="23774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Mentor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999232" y="297180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Their projects and stages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Drawings waiting for review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Signs off completed work</a:t>
            </a:r>
            <a:endParaRPr lang="en-US" sz="1300" dirty="0"/>
          </a:p>
        </p:txBody>
      </p:sp>
      <p:sp>
        <p:nvSpPr>
          <p:cNvPr id="13" name="role Architect / Designer"/>
          <p:cNvSpPr/>
          <p:nvPr/>
        </p:nvSpPr>
        <p:spPr>
          <a:xfrm>
            <a:off x="5047488" y="1371600"/>
            <a:ext cx="2066544" cy="3611880"/>
          </a:xfrm>
          <a:prstGeom prst="roundRect">
            <a:avLst>
              <a:gd name="adj" fmla="val 531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248656" y="1600200"/>
            <a:ext cx="640080" cy="640080"/>
          </a:xfrm>
          <a:prstGeom prst="ellipse">
            <a:avLst/>
          </a:prstGeom>
          <a:solidFill>
            <a:srgbClr val="F5EEE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275" y="175381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48656" y="23774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Architect / Designer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248656" y="297180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My Tasks, linked to each project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Change requests assigned to them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Due-date changes need a reason</a:t>
            </a:r>
            <a:endParaRPr lang="en-US" sz="1300" dirty="0"/>
          </a:p>
        </p:txBody>
      </p:sp>
      <p:sp>
        <p:nvSpPr>
          <p:cNvPr id="18" name="role Site supervisor"/>
          <p:cNvSpPr/>
          <p:nvPr/>
        </p:nvSpPr>
        <p:spPr>
          <a:xfrm>
            <a:off x="7296912" y="1371600"/>
            <a:ext cx="2066544" cy="3611880"/>
          </a:xfrm>
          <a:prstGeom prst="roundRect">
            <a:avLst>
              <a:gd name="adj" fmla="val 531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0" y="1600200"/>
            <a:ext cx="640080" cy="640080"/>
          </a:xfrm>
          <a:prstGeom prst="ellipse">
            <a:avLst/>
          </a:prstGeom>
          <a:solidFill>
            <a:srgbClr val="F5EEE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699" y="175381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98080" y="23774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Site supervisor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498080" y="297180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Updates stages from site on mobile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Conveyance claim with bill photo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Issued drawings for the site</a:t>
            </a:r>
            <a:endParaRPr lang="en-US" sz="1300" dirty="0"/>
          </a:p>
        </p:txBody>
      </p:sp>
      <p:sp>
        <p:nvSpPr>
          <p:cNvPr id="23" name="role Office admin"/>
          <p:cNvSpPr/>
          <p:nvPr/>
        </p:nvSpPr>
        <p:spPr>
          <a:xfrm>
            <a:off x="9546336" y="1371600"/>
            <a:ext cx="2066544" cy="3611880"/>
          </a:xfrm>
          <a:prstGeom prst="roundRect">
            <a:avLst>
              <a:gd name="adj" fmla="val 531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747504" y="1600200"/>
            <a:ext cx="640080" cy="640080"/>
          </a:xfrm>
          <a:prstGeom prst="ellipse">
            <a:avLst/>
          </a:prstGeom>
          <a:solidFill>
            <a:srgbClr val="F5EEE8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1123" y="1753819"/>
            <a:ext cx="332842" cy="33284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747504" y="23774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Office admin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9747504" y="297180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Leave and claim approvals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Client birthday reminders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New project set-up in minutes</a:t>
            </a:r>
            <a:endParaRPr lang="en-US" sz="1300" dirty="0"/>
          </a:p>
        </p:txBody>
      </p:sp>
      <p:sp>
        <p:nvSpPr>
          <p:cNvPr id="28" name="roles note"/>
          <p:cNvSpPr/>
          <p:nvPr/>
        </p:nvSpPr>
        <p:spPr>
          <a:xfrm>
            <a:off x="548640" y="521208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5EEE8"/>
          </a:solidFill>
          <a:ln/>
        </p:spPr>
      </p:sp>
      <p:sp>
        <p:nvSpPr>
          <p:cNvPr id="29" name="Shape 22"/>
          <p:cNvSpPr/>
          <p:nvPr/>
        </p:nvSpPr>
        <p:spPr>
          <a:xfrm>
            <a:off x="777240" y="5321808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081" y="5466649"/>
            <a:ext cx="313822" cy="31382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600200" y="521208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Everyone uses the same OmniFlow app on web and phone; each person sees only what their role needs.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6422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Full go-live in ten weeks, with the first modules live by 30 October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3840480" y="1371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W1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16002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 Oct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617720" y="1371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W2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617720" y="16002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 Oct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17720" y="1920240"/>
            <a:ext cx="0" cy="34290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94960" y="1371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W3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16002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19 Oct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94960" y="1920240"/>
            <a:ext cx="0" cy="34290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72200" y="1371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W4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16002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26 Oct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72200" y="1920240"/>
            <a:ext cx="0" cy="34290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49440" y="1371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W5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16002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 Nov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949440" y="1920240"/>
            <a:ext cx="0" cy="34290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26680" y="1371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W6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726680" y="16002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 Nov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726680" y="1920240"/>
            <a:ext cx="0" cy="34290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503920" y="1371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W7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503920" y="16002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16 Nov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503920" y="1920240"/>
            <a:ext cx="0" cy="34290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81160" y="1371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W8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281160" y="16002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23 Nov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281160" y="1920240"/>
            <a:ext cx="0" cy="34290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058400" y="1371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W9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058400" y="16002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30 Nov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10058400" y="1920240"/>
            <a:ext cx="0" cy="34290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835640" y="1371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W10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0835640" y="16002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 Dec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0835640" y="1920240"/>
            <a:ext cx="0" cy="34290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48640" y="20574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Kick-off and data clean-up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2331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Fix project IDs, collect stage dates, users</a:t>
            </a:r>
            <a:endParaRPr lang="en-US" sz="1000" dirty="0"/>
          </a:p>
        </p:txBody>
      </p:sp>
      <p:sp>
        <p:nvSpPr>
          <p:cNvPr id="35" name="phase 1"/>
          <p:cNvSpPr/>
          <p:nvPr/>
        </p:nvSpPr>
        <p:spPr>
          <a:xfrm>
            <a:off x="3877056" y="2130552"/>
            <a:ext cx="1481328" cy="384048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48640" y="27157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Go-live: ready modules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29900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Delegation, leave, requests, contacts, mobile</a:t>
            </a:r>
            <a:endParaRPr lang="en-US" sz="1000" dirty="0"/>
          </a:p>
        </p:txBody>
      </p:sp>
      <p:sp>
        <p:nvSpPr>
          <p:cNvPr id="38" name="phase 2"/>
          <p:cNvSpPr/>
          <p:nvPr/>
        </p:nvSpPr>
        <p:spPr>
          <a:xfrm>
            <a:off x="4654296" y="2788920"/>
            <a:ext cx="2258568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48640" y="33741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Build: Projects + Milestone Tracker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36484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Register, 21-stage board, F-86 pilot</a:t>
            </a:r>
            <a:endParaRPr lang="en-US" sz="1000" dirty="0"/>
          </a:p>
        </p:txBody>
      </p:sp>
      <p:sp>
        <p:nvSpPr>
          <p:cNvPr id="41" name="phase 3"/>
          <p:cNvSpPr/>
          <p:nvPr/>
        </p:nvSpPr>
        <p:spPr>
          <a:xfrm>
            <a:off x="5431536" y="3447288"/>
            <a:ext cx="3813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548640" y="40325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Build: Scorecard, Claims, Client Care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548640" y="43068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Weekly R / Y / G, conveyance approval, reminders</a:t>
            </a:r>
            <a:endParaRPr lang="en-US" sz="1000" dirty="0"/>
          </a:p>
        </p:txBody>
      </p:sp>
      <p:sp>
        <p:nvSpPr>
          <p:cNvPr id="44" name="phase 4"/>
          <p:cNvSpPr/>
          <p:nvPr/>
        </p:nvSpPr>
        <p:spPr>
          <a:xfrm>
            <a:off x="7763256" y="4105656"/>
            <a:ext cx="303580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548640" y="46908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Parallel run and training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548640" y="49651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Sheets and OmniFlow side by side, then retire sheets</a:t>
            </a:r>
            <a:endParaRPr lang="en-US" sz="1000" dirty="0"/>
          </a:p>
        </p:txBody>
      </p:sp>
      <p:sp>
        <p:nvSpPr>
          <p:cNvPr id="47" name="phase 5"/>
          <p:cNvSpPr/>
          <p:nvPr/>
        </p:nvSpPr>
        <p:spPr>
          <a:xfrm>
            <a:off x="10094976" y="4764024"/>
            <a:ext cx="1481328" cy="384048"/>
          </a:xfrm>
          <a:prstGeom prst="roundRect">
            <a:avLst>
              <a:gd name="adj" fmla="val 19048"/>
            </a:avLst>
          </a:prstGeom>
          <a:solidFill>
            <a:srgbClr val="A9805F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548640" y="5440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9805F"/>
                </a:solidFill>
              </a:rPr>
              <a:t>Key dates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6821424" y="5458968"/>
            <a:ext cx="256032" cy="256032"/>
          </a:xfrm>
          <a:prstGeom prst="diamond">
            <a:avLst/>
          </a:prstGeom>
          <a:solidFill>
            <a:srgbClr val="A9805F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5852160" y="5742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30 Oct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5212080" y="5943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First modules live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9153144" y="5458968"/>
            <a:ext cx="256032" cy="256032"/>
          </a:xfrm>
          <a:prstGeom prst="diamond">
            <a:avLst/>
          </a:prstGeom>
          <a:solidFill>
            <a:srgbClr val="A9805F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8183880" y="5742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20 Nov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7543800" y="5943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Milestone Tracker live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11484864" y="5458968"/>
            <a:ext cx="256032" cy="256032"/>
          </a:xfrm>
          <a:prstGeom prst="diamond">
            <a:avLst/>
          </a:prstGeom>
          <a:solidFill>
            <a:srgbClr val="A9805F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10515600" y="5742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11 Dec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9875520" y="5943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Full go-live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6422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we need from Studio Niva to start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E3CDB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805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Confirm project IDs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099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IDs 150 and 151 differ between sheets; add projects 152 to 167 to the tracker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E3CDB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805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2860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Share planned stage dates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243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Planned start and finish for each active site, so delays show from day one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E3CDB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805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2004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Agree the scoring rule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387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Keep the score on due-date changes only, or also count late completion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E3CDB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805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1148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Set claim approvals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4531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Who approves conveyance, and whether it is paid with salary or separately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E3CDB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805F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0292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Name a project champion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3675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One person at Studio Niva for set-up questions, testing and training</a:t>
            </a:r>
            <a:endParaRPr lang="en-US" sz="1300" dirty="0"/>
          </a:p>
        </p:txBody>
      </p:sp>
      <p:sp>
        <p:nvSpPr>
          <p:cNvPr id="23" name="this week"/>
          <p:cNvSpPr/>
          <p:nvPr/>
        </p:nvSpPr>
        <p:spPr>
          <a:xfrm>
            <a:off x="7955280" y="137160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0F1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0" y="1645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CDBC"/>
                </a:solidFill>
              </a:rPr>
              <a:t>THIS WEEK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0" y="2121408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3608" y="2185416"/>
            <a:ext cx="201168" cy="201168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8732520" y="21031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Studio Niva signs off this plan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229600" y="2990088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8" y="3054096"/>
            <a:ext cx="201168" cy="201168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8732520" y="29718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OmniFlow workspace set up with the team list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8229600" y="3858768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3922776"/>
            <a:ext cx="201168" cy="201168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8732520" y="38404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Kick-off session with mentors and admin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8229600" y="4727448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8" y="4791456"/>
            <a:ext cx="201168" cy="201168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8732520" y="47091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Data clean-up of projects and clients begins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6422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868680" cy="868680"/>
          </a:xfrm>
          <a:prstGeom prst="ellipse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83080" y="102412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4A3B8"/>
                </a:solidFill>
              </a:rPr>
              <a:t>×</a:t>
            </a:r>
            <a:endParaRPr lang="en-US" sz="3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914400"/>
            <a:ext cx="868680" cy="868680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3317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One place for every site and task</a:t>
            </a:r>
            <a:endParaRPr lang="en-US" sz="4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7490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Thank you. Questions and changes to this plan are welcome.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OmniQ Consulting  ·  omniqconsulting.com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9052560" y="-1463040"/>
            <a:ext cx="5669280" cy="5669280"/>
          </a:xfrm>
          <a:prstGeom prst="ellipse">
            <a:avLst/>
          </a:prstGeom>
          <a:solidFill>
            <a:srgbClr val="13202E"/>
          </a:solidFill>
          <a:ln/>
        </p:spPr>
      </p:sp>
      <p:sp>
        <p:nvSpPr>
          <p:cNvPr id="9" name="Shape 5"/>
          <p:cNvSpPr/>
          <p:nvPr/>
        </p:nvSpPr>
        <p:spPr>
          <a:xfrm>
            <a:off x="9692640" y="-822960"/>
            <a:ext cx="4389120" cy="4389120"/>
          </a:xfrm>
          <a:prstGeom prst="ellipse">
            <a:avLst/>
          </a:prstGeom>
          <a:solidFill>
            <a:srgbClr val="0F1A2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mniFlow x Studio Niva">
  <a:themeElements>
    <a:clrScheme name="OmniFlow x Studio Niva">
      <a:dk1>
        <a:srgbClr val="0F172A"/>
      </a:dk1>
      <a:lt1>
        <a:srgbClr val="FFFFFF"/>
      </a:lt1>
      <a:dk2>
        <a:srgbClr val="0B0F1A"/>
      </a:dk2>
      <a:lt2>
        <a:srgbClr val="EEF2F7"/>
      </a:lt2>
      <a:accent1>
        <a:srgbClr val="3B82F6"/>
      </a:accent1>
      <a:accent2>
        <a:srgbClr val="14B8A6"/>
      </a:accent2>
      <a:accent3>
        <a:srgbClr val="E3CDBC"/>
      </a:accent3>
      <a:accent4>
        <a:srgbClr val="A9805F"/>
      </a:accent4>
      <a:accent5>
        <a:srgbClr val="22C55E"/>
      </a:accent5>
      <a:accent6>
        <a:srgbClr val="F59E0B"/>
      </a:accent6>
      <a:hlink>
        <a:srgbClr val="3B82F6"/>
      </a:hlink>
      <a:folHlink>
        <a:srgbClr val="A9805F"/>
      </a:folHlink>
    </a:clrScheme>
    <a:fontScheme name="OmniFlow x Studio Niv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OmniQ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Studio Niva on OmniFlow - Project Plan</dc:title>
  <dc:subject>PptxGenJS Presentation</dc:subject>
  <dc:creator>OmniQ Consulting</dc:creator>
  <cp:lastModifiedBy>OmniQ Consulting</cp:lastModifiedBy>
  <cp:revision>1</cp:revision>
  <dcterms:created xsi:type="dcterms:W3CDTF">2026-10-05T05:32:35Z</dcterms:created>
  <dcterms:modified xsi:type="dcterms:W3CDTF">2026-10-05T05:32:35Z</dcterms:modified>
</cp:coreProperties>
</file>